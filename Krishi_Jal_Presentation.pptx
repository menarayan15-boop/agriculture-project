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728655" cy="4663440"/>
          </a:xfrm>
          <a:prstGeom prst="roundRect">
            <a:avLst/>
          </a:prstGeom>
          <a:solidFill>
            <a:srgbClr val="1C4E3A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66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800" b="1">
                <a:solidFill>
                  <a:srgbClr val="2ECC71"/>
                </a:solidFill>
              </a:defRPr>
            </a:pPr>
            <a:r>
              <a:t>KRISHI JAL (कृषि जल)</a:t>
            </a:r>
          </a:p>
          <a:p>
            <a:pPr>
              <a:spcAft>
                <a:spcPts val="2400"/>
              </a:spcAft>
              <a:defRPr sz="2000">
                <a:solidFill>
                  <a:srgbClr val="FFFFFF"/>
                </a:solidFill>
              </a:defRPr>
            </a:pPr>
            <a:r>
              <a:t>Next-Generation Smart Agriculture &amp; Water Management Ecosystem</a:t>
            </a:r>
          </a:p>
          <a:p>
            <a:pPr>
              <a:spcAft>
                <a:spcPts val="3600"/>
              </a:spcAft>
              <a:defRPr sz="1300">
                <a:solidFill>
                  <a:srgbClr val="C8E6D2"/>
                </a:solidFill>
              </a:defRPr>
            </a:pPr>
            <a:r>
              <a:t>A full-stack agricultural decision platform empowering farmers with Multilingual Voice AI, Precision Irrigation, Soil Health Lab, Live Mandi Trends, and Machinery Rentals.</a:t>
            </a:r>
          </a:p>
          <a:p>
            <a:pPr>
              <a:defRPr sz="1200" b="1">
                <a:solidFill>
                  <a:srgbClr val="F39C12"/>
                </a:solidFill>
              </a:defRPr>
            </a:pPr>
            <a:r>
              <a:t>⚡ Tech Stack: React 18 + Vite | Python REST Server | SQLite | Web Speech AI | PWA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8B22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43C2D"/>
                </a:solidFill>
              </a:defRPr>
            </a:pPr>
            <a:r>
              <a:t>Agricultural Challenges &amp; Project Vision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43C2D"/>
                </a:solidFill>
              </a:defRPr>
            </a:pPr>
            <a:r>
              <a:t>1. Resource Inefficiency</a:t>
            </a:r>
          </a:p>
          <a:p>
            <a:pPr>
              <a:spcAft>
                <a:spcPts val="600"/>
              </a:spcAft>
              <a:defRPr sz="900" b="1">
                <a:solidFill>
                  <a:srgbClr val="D97706"/>
                </a:solidFill>
              </a:defRPr>
            </a:pPr>
            <a:r>
              <a:t>TAG: CRITICAL NEED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Over/under-irrigation causes up to 40% water wastage.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Excessive fertilizer application degrades soil biology and drains farmer finances.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Lack of soil health testing facilities nearby.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3832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50876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43C2D"/>
                </a:solidFill>
              </a:defRPr>
            </a:pPr>
            <a:r>
              <a:t>2. Information &amp; Cost Gap</a:t>
            </a:r>
          </a:p>
          <a:p>
            <a:pPr>
              <a:spcAft>
                <a:spcPts val="600"/>
              </a:spcAft>
              <a:defRPr sz="900" b="1">
                <a:solidFill>
                  <a:srgbClr val="D97706"/>
                </a:solidFill>
              </a:defRPr>
            </a:pPr>
            <a:r>
              <a:t>TAG: MARKET DISCONNECT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Market opacity: Middlemen profit while farmers lack transparent Mandi MSP rates.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High mechanization cost: Smallholders cannot afford tractors or combine harvesters.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Traditional apps have high literacy and language barriers.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33832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50876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43C2D"/>
                </a:solidFill>
              </a:defRPr>
            </a:pPr>
            <a:r>
              <a:t>3. The Krishi Jal Solution</a:t>
            </a:r>
          </a:p>
          <a:p>
            <a:pPr>
              <a:spcAft>
                <a:spcPts val="600"/>
              </a:spcAft>
              <a:defRPr sz="900" b="1">
                <a:solidFill>
                  <a:srgbClr val="D97706"/>
                </a:solidFill>
              </a:defRPr>
            </a:pPr>
            <a:r>
              <a:t>TAG: OUR VISION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Voice-First AI: Regional speech guidance eliminating the literacy barrier.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Data-Driven Precision: Exact water &amp; fertilizer dosage recommendations.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Shared Economy: Affordable tool and machinery rental marketplace.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8B22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43C2D"/>
                </a:solidFill>
              </a:defRPr>
            </a:pPr>
            <a:r>
              <a:t>System Architecture &amp; Types of Code Used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51460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2148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43C2D"/>
                </a:solidFill>
              </a:defRPr>
            </a:pPr>
            <a:r>
              <a:t>Frontend Code (UI/UX)</a:t>
            </a:r>
          </a:p>
          <a:p>
            <a:pPr>
              <a:spcAft>
                <a:spcPts val="600"/>
              </a:spcAft>
              <a:defRPr sz="900" b="1">
                <a:solidFill>
                  <a:srgbClr val="D97706"/>
                </a:solidFill>
              </a:defRPr>
            </a:pPr>
            <a:r>
              <a:t>TAG: CLIENT-SIDE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React 18 (JSX/ES6+): Component-based responsive layout.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Vite 5 Bundler: Sub-second hot-reload and bundle optimization.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Modern Vanilla CSS3: Glassmorphism, CSS variables, and high-contrast accessibility.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PWA Service Worker: Offline app caching (sw.js).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40" y="1371600"/>
            <a:ext cx="251460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03320" y="1508760"/>
            <a:ext cx="2148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43C2D"/>
                </a:solidFill>
              </a:defRPr>
            </a:pPr>
            <a:r>
              <a:t>Backend Code (APIs)</a:t>
            </a:r>
          </a:p>
          <a:p>
            <a:pPr>
              <a:spcAft>
                <a:spcPts val="600"/>
              </a:spcAft>
              <a:defRPr sz="900" b="1">
                <a:solidFill>
                  <a:srgbClr val="D97706"/>
                </a:solidFill>
              </a:defRPr>
            </a:pPr>
            <a:r>
              <a:t>TAG: SERVER-SIDE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Python REST Server: High-efficiency Python API (`server.py`).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Agricultural Algorithms: NPK ratio calculations &amp; water requirement algorithms.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Data Pipeline: Equipment expanders (`expand_all_farming_machines.py`).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CORS &amp; Security Middleware.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251460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08760"/>
            <a:ext cx="2148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43C2D"/>
                </a:solidFill>
              </a:defRPr>
            </a:pPr>
            <a:r>
              <a:t>Data Layer &amp; Storage</a:t>
            </a:r>
          </a:p>
          <a:p>
            <a:pPr>
              <a:spcAft>
                <a:spcPts val="600"/>
              </a:spcAft>
              <a:defRPr sz="900" b="1">
                <a:solidFill>
                  <a:srgbClr val="D97706"/>
                </a:solidFill>
              </a:defRPr>
            </a:pPr>
            <a:r>
              <a:t>TAG: STORAGE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SQLite (`krishi_jal.db`): Relational persistence for bookings &amp; listings.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Browser LocalStorage: Offline state, language &amp; preferences.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Static JSON Datasets: Pre-compiled agronomy rules &amp; crop guides.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Transaction Integrity for bookings.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98280" y="1371600"/>
            <a:ext cx="251460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81160" y="1508760"/>
            <a:ext cx="2148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43C2D"/>
                </a:solidFill>
              </a:defRPr>
            </a:pPr>
            <a:r>
              <a:t>Browser &amp; AI APIs</a:t>
            </a:r>
          </a:p>
          <a:p>
            <a:pPr>
              <a:spcAft>
                <a:spcPts val="600"/>
              </a:spcAft>
              <a:defRPr sz="900" b="1">
                <a:solidFill>
                  <a:srgbClr val="D97706"/>
                </a:solidFill>
              </a:defRPr>
            </a:pPr>
            <a:r>
              <a:t>TAG: AI &amp; BROWSER APIs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Web Speech Recognition: Real-time voice-to-text processing.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Web Speech Synthesis: Automated voice response output in Hindi/English.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HTML5 Geolocation: Hyperlocal weather and mandi detection.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Canvas / SVG: Dynamic charts and visual gauges.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8B22"/>
                </a:solidFill>
              </a:defRPr>
            </a:pPr>
            <a:r>
              <a:t>FEATURE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43C2D"/>
                </a:solidFill>
              </a:defRPr>
            </a:pPr>
            <a:r>
              <a:t>Complete Feature Suite – 12 Core Modules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43C2D"/>
                </a:solidFill>
              </a:defRPr>
            </a:pPr>
            <a:r>
              <a:t>Modules 1 to 6 (Operations &amp; Precision)</a:t>
            </a:r>
          </a:p>
          <a:p>
            <a:pPr>
              <a:spcAft>
                <a:spcPts val="600"/>
              </a:spcAft>
              <a:defRPr sz="900" b="1">
                <a:solidFill>
                  <a:srgbClr val="D97706"/>
                </a:solidFill>
              </a:defRPr>
            </a:pPr>
            <a:r>
              <a:t>TAG: DAILY OPERATIONS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1. Voice AI Assistant (VoiceAiTab.jsx)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2. Soil Lab &amp; Nutrient Analysis (SoilLabTab.jsx)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3. Water &amp; Fertilizer Calculator (CalculatorTab.jsx)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4. Machinery &amp; Tool Rentals (RentalsTab.jsx)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5. Live Mandi Rates &amp; MSP (MandiTab.jsx)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6. Weather Forecast &amp; Alerts (WeatherTab.jsx)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12064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0876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43C2D"/>
                </a:solidFill>
              </a:defRPr>
            </a:pPr>
            <a:r>
              <a:t>Modules 7 to 12 (Planning &amp; Commerce)</a:t>
            </a:r>
          </a:p>
          <a:p>
            <a:pPr>
              <a:spcAft>
                <a:spcPts val="600"/>
              </a:spcAft>
              <a:defRPr sz="900" b="1">
                <a:solidFill>
                  <a:srgbClr val="D97706"/>
                </a:solidFill>
              </a:defRPr>
            </a:pPr>
            <a:r>
              <a:t>TAG: PLANNING &amp; COMMERCE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7. Farm Planner &amp; Crop Calendar (PlannerTab.jsx)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8. AI Crop Doctor &amp; Advisor (AdvisorTab.jsx)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9. Government Schemes Portal (SchemesTab.jsx)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10. Agricultural Marketplace (MarketplaceTab.jsx)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11. Farmer Education Hub (EducationTab.jsx)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12. Central Farm Dashboard (DashboardTab.jsx)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8B22"/>
                </a:solidFill>
              </a:defRPr>
            </a:pPr>
            <a:r>
              <a:t>VOICE AI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43C2D"/>
                </a:solidFill>
              </a:defRPr>
            </a:pPr>
            <a:r>
              <a:t>Deep Dive: Multilingual Voice AI Assistant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43C2D"/>
                </a:solidFill>
              </a:defRPr>
            </a:pPr>
            <a:r>
              <a:t>Capabilities &amp; Features</a:t>
            </a:r>
          </a:p>
          <a:p>
            <a:pPr>
              <a:spcAft>
                <a:spcPts val="600"/>
              </a:spcAft>
              <a:defRPr sz="900" b="1">
                <a:solidFill>
                  <a:srgbClr val="D97706"/>
                </a:solidFill>
              </a:defRPr>
            </a:pPr>
            <a:r>
              <a:t>TAG: VOICE-FIRST UX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Voice-First Interaction: One-click microphone button for spoken queries.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Bilingual Speech Support: Full support for Hindi and English recognition.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Text-to-Speech (TTS): Reads recommendations aloud so farmers don't need to read.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Smart Fallback: Text input box with instant prompt chips for common queries.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Contextual Agri-Knowledge: Pest control, weather, irrigation, and crop advice.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12064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0876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43C2D"/>
                </a:solidFill>
              </a:defRPr>
            </a:pPr>
            <a:r>
              <a:t>Technical Implementation (`VoiceAiTab.jsx`)</a:t>
            </a:r>
          </a:p>
          <a:p>
            <a:pPr>
              <a:spcAft>
                <a:spcPts val="600"/>
              </a:spcAft>
              <a:defRPr sz="900" b="1">
                <a:solidFill>
                  <a:srgbClr val="D97706"/>
                </a:solidFill>
              </a:defRPr>
            </a:pPr>
            <a:r>
              <a:t>TAG: UNDER THE HOOD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Uses native `window.SpeechRecognition` / `webkitSpeechRecognition` API.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Real-time interim results and silence-detection handlers.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`window.speechSynthesis` for natural speech playback with language tags (`hi-IN`, `en-IN`).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Error recovery and auto-reconnect on mic timeout.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Zero external paid voice API dependency — 100% free browser-native execution.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8B22"/>
                </a:solidFill>
              </a:defRPr>
            </a:pPr>
            <a:r>
              <a:t>PRECISION AGRICULTURE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43C2D"/>
                </a:solidFill>
              </a:defRPr>
            </a:pPr>
            <a:r>
              <a:t>Deep Dive: Smart Soil Lab &amp; Precision Calculator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43C2D"/>
                </a:solidFill>
              </a:defRPr>
            </a:pPr>
            <a:r>
              <a:t>Soil Lab &amp; Health Diagnostics (`SoilLabTab.jsx`)</a:t>
            </a:r>
          </a:p>
          <a:p>
            <a:pPr>
              <a:spcAft>
                <a:spcPts val="600"/>
              </a:spcAft>
              <a:defRPr sz="900" b="1">
                <a:solidFill>
                  <a:srgbClr val="D97706"/>
                </a:solidFill>
              </a:defRPr>
            </a:pPr>
            <a:r>
              <a:t>TAG: SOIL HEALTH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NPK &amp; pH Analysis: Inputs for Nitrogen, Phosphorus, Potassium, and pH.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Soil Quality Index: Automated scoring from Acidic/Alkaline to Optimal.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Custom Remedy Generation: Recommends Gypsum, Lime, or organic compost.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IoT Sensor Simulation: Connects simulated soil moisture and NPK hardware feeds.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12064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0876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43C2D"/>
                </a:solidFill>
              </a:defRPr>
            </a:pPr>
            <a:r>
              <a:t>Water &amp; Fertilizer Calculator (`CalculatorTab.jsx`)</a:t>
            </a:r>
          </a:p>
          <a:p>
            <a:pPr>
              <a:spcAft>
                <a:spcPts val="600"/>
              </a:spcAft>
              <a:defRPr sz="900" b="1">
                <a:solidFill>
                  <a:srgbClr val="D97706"/>
                </a:solidFill>
              </a:defRPr>
            </a:pPr>
            <a:r>
              <a:t>TAG: WATER &amp; NUTRIENTS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Water Requirement (Liters/Acre): Computes daily irrigation volume by crop type and stage.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Drip &amp; Sprinkler Sizing: Advises run-times for pressurized irrigation setups.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Fertilizer Dose Calculator: Recommends exact Urea, DAP, and MOP bags per acre.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Cost Savings: Prevents 20-35% excess expenditure on chemical inputs.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8B22"/>
                </a:solidFill>
              </a:defRPr>
            </a:pPr>
            <a:r>
              <a:t>FARM MECHANIZATION &amp; MARKETS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43C2D"/>
                </a:solidFill>
              </a:defRPr>
            </a:pPr>
            <a:r>
              <a:t>Deep Dive: Machinery Rentals &amp; Mandi Rates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43C2D"/>
                </a:solidFill>
              </a:defRPr>
            </a:pPr>
            <a:r>
              <a:t>Machinery &amp; Tool Rentals (`RentalsTab.jsx`)</a:t>
            </a:r>
          </a:p>
          <a:p>
            <a:pPr>
              <a:spcAft>
                <a:spcPts val="600"/>
              </a:spcAft>
              <a:defRPr sz="900" b="1">
                <a:solidFill>
                  <a:srgbClr val="D97706"/>
                </a:solidFill>
              </a:defRPr>
            </a:pPr>
            <a:r>
              <a:t>TAG: EQUIPMENT SHARING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Broad Catalog: Tractors, Harvesters, Rotavators, Drone Sprayers, Seeders.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Flexible Rental Rates: Hourly (₹/hr) and Daily (₹/day) pricing tiers.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Operator Included Option: Filter equipment with or without trained drivers.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Booking Workflow: Instant date-picker, duration selection, and receipt generator.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12064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0876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43C2D"/>
                </a:solidFill>
              </a:defRPr>
            </a:pPr>
            <a:r>
              <a:t>Live Mandi Rates &amp; Trends (`MandiTab.jsx`)</a:t>
            </a:r>
          </a:p>
          <a:p>
            <a:pPr>
              <a:spcAft>
                <a:spcPts val="600"/>
              </a:spcAft>
              <a:defRPr sz="900" b="1">
                <a:solidFill>
                  <a:srgbClr val="D97706"/>
                </a:solidFill>
              </a:defRPr>
            </a:pPr>
            <a:r>
              <a:t>TAG: MARKET TRANSPARENCY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Commodity Price Feed: Wheat, Rice, Cotton, Soybean, Pulses, and Vegetables.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MSP vs Market Price: Visual indicators for favorable selling conditions.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APMC Mandi Filter: Sort by state, district, and nearest wholesale markets.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Historical Price Trend Charts: Informs optimal harvesting and selling times.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8B22"/>
                </a:solidFill>
              </a:defRPr>
            </a:pPr>
            <a:r>
              <a:t>FARMER 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43C2D"/>
                </a:solidFill>
              </a:defRPr>
            </a:pPr>
            <a:r>
              <a:t>Deep Dive: Advisory, Planning &amp; Government Aid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43C2D"/>
                </a:solidFill>
              </a:defRPr>
            </a:pPr>
            <a:r>
              <a:t>Crop Doctor &amp; Advisor</a:t>
            </a:r>
          </a:p>
          <a:p>
            <a:pPr>
              <a:spcAft>
                <a:spcPts val="600"/>
              </a:spcAft>
              <a:defRPr sz="900" b="1">
                <a:solidFill>
                  <a:srgbClr val="D97706"/>
                </a:solidFill>
              </a:defRPr>
            </a:pPr>
            <a:r>
              <a:t>TAG: CROP HEALTH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AI Symptom Diagnosis (`AdvisorTab.jsx`).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Identifies leaf blight, rust, stem borers, and root rot.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Provides organic remedies (Neem oil, Trichoderma) and standard treatments.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3832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50876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43C2D"/>
                </a:solidFill>
              </a:defRPr>
            </a:pPr>
            <a:r>
              <a:t>Crop Calendar &amp; Planner</a:t>
            </a:r>
          </a:p>
          <a:p>
            <a:pPr>
              <a:spcAft>
                <a:spcPts val="600"/>
              </a:spcAft>
              <a:defRPr sz="900" b="1">
                <a:solidFill>
                  <a:srgbClr val="D97706"/>
                </a:solidFill>
              </a:defRPr>
            </a:pPr>
            <a:r>
              <a:t>TAG: FARM TIMELINE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Stage-by-stage guide (`PlannerTab.jsx`).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Sowing, irrigation cycles, weeding, and harvesting timelines.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Daily actionable checklists for farm laborers and managers.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33832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50876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43C2D"/>
                </a:solidFill>
              </a:defRPr>
            </a:pPr>
            <a:r>
              <a:t>Government Schemes</a:t>
            </a:r>
          </a:p>
          <a:p>
            <a:pPr>
              <a:spcAft>
                <a:spcPts val="600"/>
              </a:spcAft>
              <a:defRPr sz="900" b="1">
                <a:solidFill>
                  <a:srgbClr val="D97706"/>
                </a:solidFill>
              </a:defRPr>
            </a:pPr>
            <a:r>
              <a:t>TAG: GOVERNMENT AID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Subsidies &amp; Grants (`SchemesTab.jsx`).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PM-Kisan, PM Fasal Bima Yojana, Solar Pump &amp; Drip Irrigation subsidies.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Eligibility criteria, document checklists, and application links.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8B22"/>
                </a:solidFill>
              </a:defRPr>
            </a:pPr>
            <a:r>
              <a:t>DESIGN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43C2D"/>
                </a:solidFill>
              </a:defRPr>
            </a:pPr>
            <a:r>
              <a:t>Design System, UX &amp; Accessibility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43C2D"/>
                </a:solidFill>
              </a:defRPr>
            </a:pPr>
            <a:r>
              <a:t>Agricultural Palette</a:t>
            </a:r>
          </a:p>
          <a:p>
            <a:pPr>
              <a:spcAft>
                <a:spcPts val="600"/>
              </a:spcAft>
              <a:defRPr sz="900" b="1">
                <a:solidFill>
                  <a:srgbClr val="D97706"/>
                </a:solidFill>
              </a:defRPr>
            </a:pPr>
            <a:r>
              <a:t>TAG: COLOR PALETTE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Forest Green (#1B4D3E) for authority and trust.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Emerald Green (#2ECC71) for positive growth states.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Warm Amber (#D97706) for warnings and alerts.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Clean Off-White for sunlight readability in fields.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3832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50876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43C2D"/>
                </a:solidFill>
              </a:defRPr>
            </a:pPr>
            <a:r>
              <a:t>Mobile-First Ergonomics</a:t>
            </a:r>
          </a:p>
          <a:p>
            <a:pPr>
              <a:spcAft>
                <a:spcPts val="600"/>
              </a:spcAft>
              <a:defRPr sz="900" b="1">
                <a:solidFill>
                  <a:srgbClr val="D97706"/>
                </a:solidFill>
              </a:defRPr>
            </a:pPr>
            <a:r>
              <a:t>TAG: MOBILE UX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Minimum 48px touch targets for easy finger tapping.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Clear visual icons paired with text for low-literacy clarity.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Responsive bottom tabs and smooth horizontal scroll chips.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Optimized for low-end Android phones.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33832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50876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43C2D"/>
                </a:solidFill>
              </a:defRPr>
            </a:pPr>
            <a:r>
              <a:t>PWA &amp; Offline First</a:t>
            </a:r>
          </a:p>
          <a:p>
            <a:pPr>
              <a:spcAft>
                <a:spcPts val="600"/>
              </a:spcAft>
              <a:defRPr sz="900" b="1">
                <a:solidFill>
                  <a:srgbClr val="D97706"/>
                </a:solidFill>
              </a:defRPr>
            </a:pPr>
            <a:r>
              <a:t>TAG: OFFLINE CAPABILITY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Installable to Home Screen as a native mobile app.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Service Worker caches assets for zero-network environments.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Fast cold-start loading with zero bloatware libraries.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High performance 60fps animations.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8B22"/>
                </a:solidFill>
              </a:defRPr>
            </a:pPr>
            <a: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43C2D"/>
                </a:solidFill>
              </a:defRPr>
            </a:pPr>
            <a:r>
              <a:t>Future Roadmap &amp; Technological Expansion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43C2D"/>
                </a:solidFill>
              </a:defRPr>
            </a:pPr>
            <a:r>
              <a:t>Phase 1: Hardware &amp; Satellite AI</a:t>
            </a:r>
          </a:p>
          <a:p>
            <a:pPr>
              <a:spcAft>
                <a:spcPts val="600"/>
              </a:spcAft>
              <a:defRPr sz="900" b="1">
                <a:solidFill>
                  <a:srgbClr val="D97706"/>
                </a:solidFill>
              </a:defRPr>
            </a:pPr>
            <a:r>
              <a:t>TAG: HARDWARE &amp; AI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Satellite NDVI Index: Remote crop moisture and vegetative health via Sentinel-2.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IoT LoRaWAN Sensor Nodes: Real-time telemetry from in-field soil sensors.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Computer Vision Crop Scanner: Camera photo upload for AI disease detection.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Automated Smart Valves: Direct IoT relay control for drip irrigation systems.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12064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0876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43C2D"/>
                </a:solidFill>
              </a:defRPr>
            </a:pPr>
            <a:r>
              <a:t>Phase 2: Community &amp; Fintech</a:t>
            </a:r>
          </a:p>
          <a:p>
            <a:pPr>
              <a:spcAft>
                <a:spcPts val="600"/>
              </a:spcAft>
              <a:defRPr sz="900" b="1">
                <a:solidFill>
                  <a:srgbClr val="D97706"/>
                </a:solidFill>
              </a:defRPr>
            </a:pPr>
            <a:r>
              <a:t>TAG: FINTECH &amp; OUTREACH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Farmer Community &amp; Peer Advice Forum: Local knowledge exchange.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Kisan Credit Card (KCC) Micro-Loan Integration: Digital pre-approval.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WhatsApp &amp; SMS Bot: Push alerts for weather and mandi rates to basic feature phones.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Multi-regional language audio support in 10+ Indian languages.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9966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200" b="1">
                <a:solidFill>
                  <a:srgbClr val="2ECC71"/>
                </a:solidFill>
              </a:defRPr>
            </a:pPr>
            <a:r>
              <a:t>Empowering Every Farmer, Conserving Every Drop</a:t>
            </a:r>
          </a:p>
          <a:p>
            <a:pPr>
              <a:spcAft>
                <a:spcPts val="3000"/>
              </a:spcAft>
              <a:defRPr sz="1600">
                <a:solidFill>
                  <a:srgbClr val="FFFFFF"/>
                </a:solidFill>
              </a:defRPr>
            </a:pPr>
            <a:r>
              <a:t>Krishi Jal merges cutting-edge web technologies, voice AI, and agricultural science into an intuitive, accessible platform tailored for the future of farming.</a:t>
            </a:r>
          </a:p>
          <a:p>
            <a:pPr>
              <a:spcAft>
                <a:spcPts val="3600"/>
              </a:spcAft>
              <a:defRPr sz="1400">
                <a:solidFill>
                  <a:srgbClr val="C8EBD7"/>
                </a:solidFill>
              </a:defRPr>
            </a:pPr>
            <a:r>
              <a:t>✅ 12 Comprehensive Agritech Modules</a:t>
            </a:r>
            <a:br/>
            <a:r>
              <a:t>✅ Native Voice AI in Hindi &amp; English</a:t>
            </a:r>
            <a:br/>
            <a:r>
              <a:t>✅ Precision Water &amp; Fertilizer Savings</a:t>
            </a:r>
            <a:br/>
            <a:r>
              <a:t>✅ Shared Machinery Economy</a:t>
            </a:r>
            <a:br/>
            <a:r>
              <a:t>✅ Offline-Ready Progressive Web App</a:t>
            </a:r>
          </a:p>
          <a:p>
            <a:pPr>
              <a:defRPr sz="1800" b="1">
                <a:solidFill>
                  <a:srgbClr val="F39C12"/>
                </a:solidFill>
              </a:defRPr>
            </a:pPr>
            <a:r>
              <a:t>Thank You! | Live Demo: http://localhost:5173/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